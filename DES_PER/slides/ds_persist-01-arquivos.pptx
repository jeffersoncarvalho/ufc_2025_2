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22.xml.rels" ContentType="application/vnd.openxmlformats-package.relationships+xml"/>
  <Override PartName="/ppt/notesSlides/_rels/notesSlide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media/image1.png" ContentType="image/png"/>
  <Override PartName="/ppt/media/image2.png" ContentType="image/png"/>
  <Override PartName="/ppt/media/image4.jpeg" ContentType="image/jpeg"/>
  <Override PartName="/ppt/media/image3.png" ContentType="image/png"/>
  <Override PartName="/ppt/media/image5.png" ContentType="image/png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/>
  <p:notesSz cx="6854825" cy="9712325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B59BDF7E-CF2D-4647-BA4F-706D4D2E7605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6"/>
          <p:cNvSpPr/>
          <p:nvPr/>
        </p:nvSpPr>
        <p:spPr>
          <a:xfrm>
            <a:off x="3879720" y="9226440"/>
            <a:ext cx="2972520" cy="483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8000"/>
              </a:lnSpc>
              <a:tabLst>
                <a:tab algn="l" pos="723960"/>
                <a:tab algn="l" pos="1447920"/>
                <a:tab algn="l" pos="2171880"/>
                <a:tab algn="l" pos="2895480"/>
              </a:tabLst>
            </a:pPr>
            <a:fld id="{0CC61338-E74D-450F-B3E0-286F3E1B5AD2}" type="slidenum">
              <a:rPr b="0" lang="pt-BR" sz="1400" spc="-1" strike="noStrike">
                <a:solidFill>
                  <a:srgbClr val="000000"/>
                </a:solidFill>
                <a:latin typeface="DejaVu Sans"/>
                <a:ea typeface="+mn-ea"/>
              </a:rPr>
              <a:t>&lt;número&gt;</a:t>
            </a:fld>
            <a:endParaRPr b="0" lang="pt-BR" sz="1400" spc="-1" strike="noStrike">
              <a:latin typeface="Arial"/>
            </a:endParaRPr>
          </a:p>
        </p:txBody>
      </p:sp>
      <p:sp>
        <p:nvSpPr>
          <p:cNvPr id="289" name="Text Box 1"/>
          <p:cNvSpPr/>
          <p:nvPr/>
        </p:nvSpPr>
        <p:spPr>
          <a:xfrm>
            <a:off x="2141640" y="738360"/>
            <a:ext cx="2569320" cy="36410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PlaceHolder 1"/>
          <p:cNvSpPr>
            <a:spLocks noGrp="1"/>
          </p:cNvSpPr>
          <p:nvPr>
            <p:ph type="body"/>
          </p:nvPr>
        </p:nvSpPr>
        <p:spPr>
          <a:xfrm>
            <a:off x="685800" y="4613400"/>
            <a:ext cx="5482440" cy="4369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2000" spc="-1" strike="noStrike"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000080" y="738360"/>
            <a:ext cx="4850640" cy="3639240"/>
          </a:xfrm>
          <a:prstGeom prst="rect">
            <a:avLst/>
          </a:prstGeom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613400"/>
            <a:ext cx="5481000" cy="4368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216000" indent="-21564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Aqui em 02/12/2020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93" name="Slide Number Placeholder 3"/>
          <p:cNvSpPr/>
          <p:nvPr/>
        </p:nvSpPr>
        <p:spPr>
          <a:xfrm>
            <a:off x="3879720" y="9226440"/>
            <a:ext cx="2972520" cy="48348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8000"/>
              </a:lnSpc>
              <a:tabLst>
                <a:tab algn="l" pos="723960"/>
                <a:tab algn="l" pos="1447920"/>
                <a:tab algn="l" pos="2171880"/>
                <a:tab algn="l" pos="2895480"/>
              </a:tabLst>
            </a:pPr>
            <a:fld id="{7CF373F7-C310-4E63-B8DD-47A146DC8A4E}" type="slidenum">
              <a:rPr b="0" lang="pt-BR" sz="1400" spc="-1" strike="noStrike">
                <a:solidFill>
                  <a:srgbClr val="000000"/>
                </a:solidFill>
                <a:latin typeface="DejaVu Sans"/>
                <a:ea typeface="+mn-ea"/>
              </a:rPr>
              <a:t>&lt;número&gt;</a:t>
            </a:fld>
            <a:endParaRPr b="0" lang="pt-BR" sz="14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tângulo 27" hidden="1"/>
          <p:cNvSpPr/>
          <p:nvPr/>
        </p:nvSpPr>
        <p:spPr>
          <a:xfrm>
            <a:off x="0" y="366840"/>
            <a:ext cx="9143280" cy="835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" name="Retângulo 28" hidden="1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" name="Retângulo 29" hidden="1"/>
          <p:cNvSpPr/>
          <p:nvPr/>
        </p:nvSpPr>
        <p:spPr>
          <a:xfrm>
            <a:off x="0" y="307800"/>
            <a:ext cx="9143280" cy="91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Retângulo 30" hidden="1"/>
          <p:cNvSpPr/>
          <p:nvPr/>
        </p:nvSpPr>
        <p:spPr>
          <a:xfrm flipV="1">
            <a:off x="5410080" y="358920"/>
            <a:ext cx="3733200" cy="89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Retângulo 31" hidden="1"/>
          <p:cNvSpPr/>
          <p:nvPr/>
        </p:nvSpPr>
        <p:spPr>
          <a:xfrm flipV="1">
            <a:off x="5410080" y="438120"/>
            <a:ext cx="3733200" cy="1803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" name="Retângulo de cantos arredondados 32" hidden="1"/>
          <p:cNvSpPr/>
          <p:nvPr/>
        </p:nvSpPr>
        <p:spPr>
          <a:xfrm>
            <a:off x="5407200" y="496800"/>
            <a:ext cx="3063240" cy="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" name="Retângulo de cantos arredondados 33" hidden="1"/>
          <p:cNvSpPr/>
          <p:nvPr/>
        </p:nvSpPr>
        <p:spPr>
          <a:xfrm>
            <a:off x="7373880" y="588960"/>
            <a:ext cx="1599480" cy="3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" name="Retângulo 34" hidden="1"/>
          <p:cNvSpPr/>
          <p:nvPr/>
        </p:nvSpPr>
        <p:spPr>
          <a:xfrm>
            <a:off x="9085320" y="-1440"/>
            <a:ext cx="565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" name="Retângulo 35" hidden="1"/>
          <p:cNvSpPr/>
          <p:nvPr/>
        </p:nvSpPr>
        <p:spPr>
          <a:xfrm>
            <a:off x="9043920" y="-1440"/>
            <a:ext cx="277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" name="Retângulo 36" hidden="1"/>
          <p:cNvSpPr/>
          <p:nvPr/>
        </p:nvSpPr>
        <p:spPr>
          <a:xfrm>
            <a:off x="9024840" y="-1440"/>
            <a:ext cx="8640" cy="619920"/>
          </a:xfrm>
          <a:prstGeom prst="rect">
            <a:avLst/>
          </a:prstGeom>
          <a:solidFill>
            <a:srgbClr val="ffffff">
              <a:alpha val="6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" name="Retângulo 37" hidden="1"/>
          <p:cNvSpPr/>
          <p:nvPr/>
        </p:nvSpPr>
        <p:spPr>
          <a:xfrm>
            <a:off x="8975880" y="-1440"/>
            <a:ext cx="26280" cy="619920"/>
          </a:xfrm>
          <a:prstGeom prst="rect">
            <a:avLst/>
          </a:prstGeom>
          <a:solidFill>
            <a:srgbClr val="ffffff">
              <a:alpha val="4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" name="Retângulo 38" hidden="1"/>
          <p:cNvSpPr/>
          <p:nvPr/>
        </p:nvSpPr>
        <p:spPr>
          <a:xfrm>
            <a:off x="8915400" y="0"/>
            <a:ext cx="54720" cy="585000"/>
          </a:xfrm>
          <a:prstGeom prst="rect">
            <a:avLst/>
          </a:prstGeom>
          <a:solidFill>
            <a:srgbClr val="ffffff">
              <a:alpha val="2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" name="Retângulo 39" hidden="1"/>
          <p:cNvSpPr/>
          <p:nvPr/>
        </p:nvSpPr>
        <p:spPr>
          <a:xfrm>
            <a:off x="8874000" y="0"/>
            <a:ext cx="7200" cy="585000"/>
          </a:xfrm>
          <a:prstGeom prst="rect">
            <a:avLst/>
          </a:prstGeom>
          <a:solidFill>
            <a:srgbClr val="ffffff">
              <a:alpha val="3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" name="Retângulo 3"/>
          <p:cNvSpPr/>
          <p:nvPr/>
        </p:nvSpPr>
        <p:spPr>
          <a:xfrm flipV="1">
            <a:off x="5410080" y="3808440"/>
            <a:ext cx="3733200" cy="89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4" name="Retângulo 4"/>
          <p:cNvSpPr/>
          <p:nvPr/>
        </p:nvSpPr>
        <p:spPr>
          <a:xfrm flipV="1">
            <a:off x="5410080" y="3895920"/>
            <a:ext cx="3733200" cy="1915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5" name="Retângulo 5"/>
          <p:cNvSpPr/>
          <p:nvPr/>
        </p:nvSpPr>
        <p:spPr>
          <a:xfrm flipV="1">
            <a:off x="5410080" y="4113360"/>
            <a:ext cx="3733200" cy="8640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" name="Retângulo 6"/>
          <p:cNvSpPr/>
          <p:nvPr/>
        </p:nvSpPr>
        <p:spPr>
          <a:xfrm flipV="1">
            <a:off x="5410080" y="4162680"/>
            <a:ext cx="1964520" cy="1836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" name="Retângulo 9"/>
          <p:cNvSpPr/>
          <p:nvPr/>
        </p:nvSpPr>
        <p:spPr>
          <a:xfrm flipV="1">
            <a:off x="5410080" y="4197600"/>
            <a:ext cx="1964520" cy="8640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8" name="Retângulo de cantos arredondados 10"/>
          <p:cNvSpPr/>
          <p:nvPr/>
        </p:nvSpPr>
        <p:spPr>
          <a:xfrm>
            <a:off x="5410080" y="3962520"/>
            <a:ext cx="3063240" cy="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9" name="Retângulo de cantos arredondados 11"/>
          <p:cNvSpPr/>
          <p:nvPr/>
        </p:nvSpPr>
        <p:spPr>
          <a:xfrm>
            <a:off x="7377120" y="4060800"/>
            <a:ext cx="1599480" cy="3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0" name="Retângulo 12"/>
          <p:cNvSpPr/>
          <p:nvPr/>
        </p:nvSpPr>
        <p:spPr>
          <a:xfrm>
            <a:off x="0" y="3649680"/>
            <a:ext cx="9143280" cy="2437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1" name="Retângulo 13"/>
          <p:cNvSpPr/>
          <p:nvPr/>
        </p:nvSpPr>
        <p:spPr>
          <a:xfrm>
            <a:off x="0" y="3675240"/>
            <a:ext cx="9143280" cy="1404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2" name="Retângulo 14"/>
          <p:cNvSpPr/>
          <p:nvPr/>
        </p:nvSpPr>
        <p:spPr>
          <a:xfrm flipV="1">
            <a:off x="6413400" y="3641760"/>
            <a:ext cx="2729880" cy="24696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3" name="Retângulo 15"/>
          <p:cNvSpPr/>
          <p:nvPr/>
        </p:nvSpPr>
        <p:spPr>
          <a:xfrm>
            <a:off x="0" y="0"/>
            <a:ext cx="9143280" cy="370116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tângulo 27"/>
          <p:cNvSpPr/>
          <p:nvPr/>
        </p:nvSpPr>
        <p:spPr>
          <a:xfrm>
            <a:off x="0" y="366840"/>
            <a:ext cx="9143280" cy="835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3" name="Retângulo 28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4" name="Retângulo 29"/>
          <p:cNvSpPr/>
          <p:nvPr/>
        </p:nvSpPr>
        <p:spPr>
          <a:xfrm>
            <a:off x="0" y="307800"/>
            <a:ext cx="9143280" cy="91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" name="Retângulo 30"/>
          <p:cNvSpPr/>
          <p:nvPr/>
        </p:nvSpPr>
        <p:spPr>
          <a:xfrm flipV="1">
            <a:off x="5410080" y="358920"/>
            <a:ext cx="3733200" cy="89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" name="Retângulo 31"/>
          <p:cNvSpPr/>
          <p:nvPr/>
        </p:nvSpPr>
        <p:spPr>
          <a:xfrm flipV="1">
            <a:off x="5410080" y="438120"/>
            <a:ext cx="3733200" cy="1803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" name="Retângulo de cantos arredondados 32"/>
          <p:cNvSpPr/>
          <p:nvPr/>
        </p:nvSpPr>
        <p:spPr>
          <a:xfrm>
            <a:off x="5407200" y="496800"/>
            <a:ext cx="3063240" cy="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" name="Retângulo de cantos arredondados 33"/>
          <p:cNvSpPr/>
          <p:nvPr/>
        </p:nvSpPr>
        <p:spPr>
          <a:xfrm>
            <a:off x="7373880" y="588960"/>
            <a:ext cx="1599480" cy="3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9" name="Retângulo 34"/>
          <p:cNvSpPr/>
          <p:nvPr/>
        </p:nvSpPr>
        <p:spPr>
          <a:xfrm>
            <a:off x="9085320" y="-1440"/>
            <a:ext cx="565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0" name="Retângulo 35"/>
          <p:cNvSpPr/>
          <p:nvPr/>
        </p:nvSpPr>
        <p:spPr>
          <a:xfrm>
            <a:off x="9043920" y="-1440"/>
            <a:ext cx="277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" name="Retângulo 36"/>
          <p:cNvSpPr/>
          <p:nvPr/>
        </p:nvSpPr>
        <p:spPr>
          <a:xfrm>
            <a:off x="9024840" y="-1440"/>
            <a:ext cx="8640" cy="619920"/>
          </a:xfrm>
          <a:prstGeom prst="rect">
            <a:avLst/>
          </a:prstGeom>
          <a:solidFill>
            <a:srgbClr val="ffffff">
              <a:alpha val="6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" name="Retângulo 37"/>
          <p:cNvSpPr/>
          <p:nvPr/>
        </p:nvSpPr>
        <p:spPr>
          <a:xfrm>
            <a:off x="8975880" y="-1440"/>
            <a:ext cx="26280" cy="619920"/>
          </a:xfrm>
          <a:prstGeom prst="rect">
            <a:avLst/>
          </a:prstGeom>
          <a:solidFill>
            <a:srgbClr val="ffffff">
              <a:alpha val="4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" name="Retângulo 38"/>
          <p:cNvSpPr/>
          <p:nvPr/>
        </p:nvSpPr>
        <p:spPr>
          <a:xfrm>
            <a:off x="8915400" y="0"/>
            <a:ext cx="54720" cy="585000"/>
          </a:xfrm>
          <a:prstGeom prst="rect">
            <a:avLst/>
          </a:prstGeom>
          <a:solidFill>
            <a:srgbClr val="ffffff">
              <a:alpha val="2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" name="Retângulo 39"/>
          <p:cNvSpPr/>
          <p:nvPr/>
        </p:nvSpPr>
        <p:spPr>
          <a:xfrm>
            <a:off x="8874000" y="0"/>
            <a:ext cx="7200" cy="585000"/>
          </a:xfrm>
          <a:prstGeom prst="rect">
            <a:avLst/>
          </a:prstGeom>
          <a:solidFill>
            <a:srgbClr val="ffffff">
              <a:alpha val="3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tângulo 27"/>
          <p:cNvSpPr/>
          <p:nvPr/>
        </p:nvSpPr>
        <p:spPr>
          <a:xfrm>
            <a:off x="0" y="366840"/>
            <a:ext cx="9143280" cy="835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4" name="Retângulo 28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5" name="Retângulo 29"/>
          <p:cNvSpPr/>
          <p:nvPr/>
        </p:nvSpPr>
        <p:spPr>
          <a:xfrm>
            <a:off x="0" y="307800"/>
            <a:ext cx="9143280" cy="91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6" name="Retângulo 30"/>
          <p:cNvSpPr/>
          <p:nvPr/>
        </p:nvSpPr>
        <p:spPr>
          <a:xfrm flipV="1">
            <a:off x="5410080" y="358920"/>
            <a:ext cx="3733200" cy="89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7" name="Retângulo 31"/>
          <p:cNvSpPr/>
          <p:nvPr/>
        </p:nvSpPr>
        <p:spPr>
          <a:xfrm flipV="1">
            <a:off x="5410080" y="438120"/>
            <a:ext cx="3733200" cy="1803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8" name="Retângulo de cantos arredondados 32"/>
          <p:cNvSpPr/>
          <p:nvPr/>
        </p:nvSpPr>
        <p:spPr>
          <a:xfrm>
            <a:off x="5407200" y="496800"/>
            <a:ext cx="3063240" cy="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9" name="Retângulo de cantos arredondados 33"/>
          <p:cNvSpPr/>
          <p:nvPr/>
        </p:nvSpPr>
        <p:spPr>
          <a:xfrm>
            <a:off x="7373880" y="588960"/>
            <a:ext cx="1599480" cy="3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0" name="Retângulo 34"/>
          <p:cNvSpPr/>
          <p:nvPr/>
        </p:nvSpPr>
        <p:spPr>
          <a:xfrm>
            <a:off x="9085320" y="-1440"/>
            <a:ext cx="565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1" name="Retângulo 35"/>
          <p:cNvSpPr/>
          <p:nvPr/>
        </p:nvSpPr>
        <p:spPr>
          <a:xfrm>
            <a:off x="9043920" y="-1440"/>
            <a:ext cx="277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2" name="Retângulo 36"/>
          <p:cNvSpPr/>
          <p:nvPr/>
        </p:nvSpPr>
        <p:spPr>
          <a:xfrm>
            <a:off x="9024840" y="-1440"/>
            <a:ext cx="8640" cy="619920"/>
          </a:xfrm>
          <a:prstGeom prst="rect">
            <a:avLst/>
          </a:prstGeom>
          <a:solidFill>
            <a:srgbClr val="ffffff">
              <a:alpha val="6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3" name="Retângulo 37"/>
          <p:cNvSpPr/>
          <p:nvPr/>
        </p:nvSpPr>
        <p:spPr>
          <a:xfrm>
            <a:off x="8975880" y="-1440"/>
            <a:ext cx="26280" cy="619920"/>
          </a:xfrm>
          <a:prstGeom prst="rect">
            <a:avLst/>
          </a:prstGeom>
          <a:solidFill>
            <a:srgbClr val="ffffff">
              <a:alpha val="4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4" name="Retângulo 38"/>
          <p:cNvSpPr/>
          <p:nvPr/>
        </p:nvSpPr>
        <p:spPr>
          <a:xfrm>
            <a:off x="8915400" y="0"/>
            <a:ext cx="54720" cy="585000"/>
          </a:xfrm>
          <a:prstGeom prst="rect">
            <a:avLst/>
          </a:prstGeom>
          <a:solidFill>
            <a:srgbClr val="ffffff">
              <a:alpha val="2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5" name="Retângulo 39"/>
          <p:cNvSpPr/>
          <p:nvPr/>
        </p:nvSpPr>
        <p:spPr>
          <a:xfrm>
            <a:off x="8874000" y="0"/>
            <a:ext cx="7200" cy="585000"/>
          </a:xfrm>
          <a:prstGeom prst="rect">
            <a:avLst/>
          </a:prstGeom>
          <a:solidFill>
            <a:srgbClr val="ffffff">
              <a:alpha val="3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tângulo 27"/>
          <p:cNvSpPr/>
          <p:nvPr/>
        </p:nvSpPr>
        <p:spPr>
          <a:xfrm>
            <a:off x="0" y="366840"/>
            <a:ext cx="9143280" cy="8352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5" name="Retângulo 28"/>
          <p:cNvSpPr/>
          <p:nvPr/>
        </p:nvSpPr>
        <p:spPr>
          <a:xfrm>
            <a:off x="0" y="0"/>
            <a:ext cx="9143280" cy="31032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6" name="Retângulo 29"/>
          <p:cNvSpPr/>
          <p:nvPr/>
        </p:nvSpPr>
        <p:spPr>
          <a:xfrm>
            <a:off x="0" y="307800"/>
            <a:ext cx="9143280" cy="914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7" name="Retângulo 30"/>
          <p:cNvSpPr/>
          <p:nvPr/>
        </p:nvSpPr>
        <p:spPr>
          <a:xfrm flipV="1">
            <a:off x="5410080" y="358920"/>
            <a:ext cx="3733200" cy="89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8" name="Retângulo 31"/>
          <p:cNvSpPr/>
          <p:nvPr/>
        </p:nvSpPr>
        <p:spPr>
          <a:xfrm flipV="1">
            <a:off x="5410080" y="438120"/>
            <a:ext cx="3733200" cy="18036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69" name="Retângulo de cantos arredondados 32"/>
          <p:cNvSpPr/>
          <p:nvPr/>
        </p:nvSpPr>
        <p:spPr>
          <a:xfrm>
            <a:off x="5407200" y="496800"/>
            <a:ext cx="3063240" cy="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0" name="Retângulo de cantos arredondados 33"/>
          <p:cNvSpPr/>
          <p:nvPr/>
        </p:nvSpPr>
        <p:spPr>
          <a:xfrm>
            <a:off x="7373880" y="588960"/>
            <a:ext cx="1599480" cy="3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1" name="Retângulo 34"/>
          <p:cNvSpPr/>
          <p:nvPr/>
        </p:nvSpPr>
        <p:spPr>
          <a:xfrm>
            <a:off x="9085320" y="-1440"/>
            <a:ext cx="565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2" name="Retângulo 35"/>
          <p:cNvSpPr/>
          <p:nvPr/>
        </p:nvSpPr>
        <p:spPr>
          <a:xfrm>
            <a:off x="9043920" y="-1440"/>
            <a:ext cx="27720" cy="619920"/>
          </a:xfrm>
          <a:prstGeom prst="rect">
            <a:avLst/>
          </a:prstGeom>
          <a:solidFill>
            <a:srgbClr val="ffffff">
              <a:alpha val="65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3" name="Retângulo 36"/>
          <p:cNvSpPr/>
          <p:nvPr/>
        </p:nvSpPr>
        <p:spPr>
          <a:xfrm>
            <a:off x="9024840" y="-1440"/>
            <a:ext cx="8640" cy="619920"/>
          </a:xfrm>
          <a:prstGeom prst="rect">
            <a:avLst/>
          </a:prstGeom>
          <a:solidFill>
            <a:srgbClr val="ffffff">
              <a:alpha val="6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4" name="Retângulo 37"/>
          <p:cNvSpPr/>
          <p:nvPr/>
        </p:nvSpPr>
        <p:spPr>
          <a:xfrm>
            <a:off x="8975880" y="-1440"/>
            <a:ext cx="26280" cy="619920"/>
          </a:xfrm>
          <a:prstGeom prst="rect">
            <a:avLst/>
          </a:prstGeom>
          <a:solidFill>
            <a:srgbClr val="ffffff">
              <a:alpha val="4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5" name="Retângulo 38"/>
          <p:cNvSpPr/>
          <p:nvPr/>
        </p:nvSpPr>
        <p:spPr>
          <a:xfrm>
            <a:off x="8915400" y="0"/>
            <a:ext cx="54720" cy="585000"/>
          </a:xfrm>
          <a:prstGeom prst="rect">
            <a:avLst/>
          </a:prstGeom>
          <a:solidFill>
            <a:srgbClr val="ffffff">
              <a:alpha val="2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6" name="Retângulo 39"/>
          <p:cNvSpPr/>
          <p:nvPr/>
        </p:nvSpPr>
        <p:spPr>
          <a:xfrm>
            <a:off x="8874000" y="0"/>
            <a:ext cx="7200" cy="585000"/>
          </a:xfrm>
          <a:prstGeom prst="rect">
            <a:avLst/>
          </a:prstGeom>
          <a:solidFill>
            <a:srgbClr val="ffffff">
              <a:alpha val="30000"/>
            </a:srgbClr>
          </a:solidFill>
          <a:ln w="50800">
            <a:noFill/>
          </a:ln>
          <a:effectLst>
            <a:outerShdw blurRad="51480" dir="5400000" dist="25560" rotWithShape="0">
              <a:srgbClr val="000000">
                <a:alpha val="4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www.appsheet.com/" TargetMode="External"/><Relationship Id="rId2" Type="http://schemas.openxmlformats.org/officeDocument/2006/relationships/hyperlink" Target="https://bubble.io/" TargetMode="External"/><Relationship Id="rId3" Type="http://schemas.openxmlformats.org/officeDocument/2006/relationships/hyperlink" Target="https://www.glideapps.com/" TargetMode="External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://www.techrepublic.com/article/how-to-easily-encryptdecrypt-a-file-in-linux-with-gpg/" TargetMode="External"/><Relationship Id="rId2" Type="http://schemas.openxmlformats.org/officeDocument/2006/relationships/hyperlink" Target="http://irtfweb.ifa.hawaii.edu/~lockhart/gpg/" TargetMode="External"/><Relationship Id="rId3" Type="http://schemas.openxmlformats.org/officeDocument/2006/relationships/hyperlink" Target="https://help.ubuntu.com/community/GnuPrivacyGuardHowto" TargetMode="External"/><Relationship Id="rId4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323640" y="692640"/>
            <a:ext cx="8457480" cy="28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680" bIns="46800" anchor="b">
            <a:noAutofit/>
          </a:bodyPr>
          <a:p>
            <a:pPr>
              <a:lnSpc>
                <a:spcPct val="100000"/>
              </a:lnSpc>
              <a:tabLst>
                <a:tab algn="l" pos="723960"/>
                <a:tab algn="l" pos="1447920"/>
                <a:tab algn="l" pos="2171880"/>
                <a:tab algn="l" pos="2895480"/>
                <a:tab algn="l" pos="3619440"/>
                <a:tab algn="l" pos="4343400"/>
                <a:tab algn="l" pos="5067360"/>
                <a:tab algn="l" pos="5791320"/>
                <a:tab algn="l" pos="6515280"/>
                <a:tab algn="l" pos="7238880"/>
              </a:tabLst>
            </a:pPr>
            <a:r>
              <a:rPr b="0" lang="pt-BR" sz="4800" spc="-1" strike="noStrike">
                <a:solidFill>
                  <a:srgbClr val="ffffff"/>
                </a:solidFill>
                <a:latin typeface="Trebuchet MS"/>
              </a:rPr>
              <a:t>Desenvolvimento de Software para Persistência</a:t>
            </a:r>
            <a:br/>
            <a:br/>
            <a:r>
              <a:rPr b="0" lang="pt-BR" sz="4000" spc="-1" strike="noStrike">
                <a:solidFill>
                  <a:srgbClr val="ffffff"/>
                </a:solidFill>
                <a:latin typeface="Trebuchet MS"/>
              </a:rPr>
              <a:t>Persistência de Arquivos: texto, binário, CSV.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22" name="Rectangle 2"/>
          <p:cNvSpPr/>
          <p:nvPr/>
        </p:nvSpPr>
        <p:spPr>
          <a:xfrm>
            <a:off x="385200" y="5700240"/>
            <a:ext cx="7210440" cy="10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8480" bIns="46800">
            <a:normAutofit/>
          </a:bodyPr>
          <a:p>
            <a:pPr>
              <a:lnSpc>
                <a:spcPct val="100000"/>
              </a:lnSpc>
              <a:spcBef>
                <a:spcPts val="700"/>
              </a:spcBef>
              <a:spcAft>
                <a:spcPts val="300"/>
              </a:spcAft>
              <a:tabLst>
                <a:tab algn="l" pos="0"/>
              </a:tabLst>
            </a:pPr>
            <a:r>
              <a:rPr b="0" lang="en-GB" sz="2400" spc="-1" strike="noStrike">
                <a:solidFill>
                  <a:srgbClr val="424456"/>
                </a:solidFill>
                <a:latin typeface="Georgia"/>
              </a:rPr>
              <a:t>Prof. Regis Pires Magalhães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GB" sz="2400" spc="-1" strike="noStrike">
                <a:solidFill>
                  <a:srgbClr val="424456"/>
                </a:solidFill>
                <a:latin typeface="Georgia"/>
              </a:rPr>
              <a:t>regismagalhaes@ufc.br</a:t>
            </a:r>
            <a:endParaRPr b="0" lang="pt-BR" sz="2400" spc="-1" strike="noStrike">
              <a:latin typeface="Arial"/>
            </a:endParaRPr>
          </a:p>
        </p:txBody>
      </p:sp>
      <p:pic>
        <p:nvPicPr>
          <p:cNvPr id="223" name="Picture 2" descr="http://guiadoestudante.abril.com.br/blogs/atualidades-vestibular/files/2013/06/BrasaoUFC_wikimediacommons.png"/>
          <p:cNvPicPr/>
          <p:nvPr/>
        </p:nvPicPr>
        <p:blipFill>
          <a:blip r:embed="rId1"/>
          <a:stretch/>
        </p:blipFill>
        <p:spPr>
          <a:xfrm>
            <a:off x="7956360" y="5085360"/>
            <a:ext cx="957240" cy="157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ítulo 1"/>
          <p:cNvSpPr/>
          <p:nvPr/>
        </p:nvSpPr>
        <p:spPr>
          <a:xfrm>
            <a:off x="457200" y="188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Tipos de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25" name="Espaço Reservado para Conteúdo 2"/>
          <p:cNvSpPr/>
          <p:nvPr/>
        </p:nvSpPr>
        <p:spPr>
          <a:xfrm>
            <a:off x="457200" y="119304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Georgia"/>
              </a:rPr>
              <a:t>Texto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Texto plano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Propriedades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CSV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XML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JSON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Código fonte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Georgia"/>
              </a:rPr>
              <a:t>Binário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Parquet – bastante eficiente para dados tabulares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Imagem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Vídeo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Áudio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Arquivo compactado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Código compilado: Executável / Bytecode.</a:t>
            </a:r>
            <a:endParaRPr b="0" lang="pt-BR" sz="20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000" spc="-1" strike="noStrike">
                <a:solidFill>
                  <a:srgbClr val="438086"/>
                </a:solidFill>
                <a:latin typeface="Georgia"/>
              </a:rPr>
              <a:t>PDF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ítulo 1_0"/>
          <p:cNvSpPr/>
          <p:nvPr/>
        </p:nvSpPr>
        <p:spPr>
          <a:xfrm>
            <a:off x="457200" y="188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Tipos de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27" name="Espaço Reservado para Conteúdo 2_0"/>
          <p:cNvSpPr/>
          <p:nvPr/>
        </p:nvSpPr>
        <p:spPr>
          <a:xfrm>
            <a:off x="457200" y="119304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1" lang="pt-BR" sz="2000" spc="-1" strike="noStrike">
                <a:solidFill>
                  <a:srgbClr val="000000"/>
                </a:solidFill>
                <a:latin typeface="Georgia"/>
              </a:rPr>
              <a:t>CSV</a:t>
            </a:r>
            <a:r>
              <a:rPr b="0" lang="pt-BR" sz="2000" spc="-1" strike="noStrike">
                <a:solidFill>
                  <a:srgbClr val="000000"/>
                </a:solidFill>
                <a:latin typeface="Georgia"/>
              </a:rPr>
              <a:t> vs </a:t>
            </a:r>
            <a:r>
              <a:rPr b="1" lang="pt-BR" sz="2000" spc="-1" strike="noStrike">
                <a:solidFill>
                  <a:srgbClr val="000000"/>
                </a:solidFill>
                <a:latin typeface="Georgia"/>
              </a:rPr>
              <a:t>Parquet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897120" y="1728000"/>
            <a:ext cx="3422520" cy="16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| nome  | curso           | nota |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| -------- | ---------------- | ------ |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| Ana     | Matemática | 8.5  |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| Bruno  | História       | 7.0  |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| Carla   | Física          | 9.2  |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20000" y="4285440"/>
            <a:ext cx="22104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latin typeface="Arial"/>
              </a:rPr>
              <a:t>Comma Separated Values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nome,curso,nota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Ana,Matemática,8.5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Bruno,História,7.0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Carla,Física,9.2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490920" y="4361400"/>
            <a:ext cx="4968720" cy="11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pt-BR" sz="1800" spc="-1" strike="noStrike">
                <a:latin typeface="Arial"/>
              </a:rPr>
              <a:t>Parquet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Coluna "nome"  -&gt; [Ana, Bruno, Carla]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Coluna "curso" -&gt; [Matemática, História, Física]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latin typeface="Arial"/>
              </a:rPr>
              <a:t>Coluna "nota"  -&gt; [8.5, 7.0, 9.2]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Versão do Python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32" name="CaixaDeTexto 4"/>
          <p:cNvSpPr/>
          <p:nvPr/>
        </p:nvSpPr>
        <p:spPr>
          <a:xfrm>
            <a:off x="539640" y="1949760"/>
            <a:ext cx="3743640" cy="82152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fr-F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fr-F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fr-FR" sz="24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r>
              <a:rPr b="0" lang="fr-F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fr-F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version</a:t>
            </a:r>
            <a:r>
              <a:rPr b="0" lang="fr-F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ítulo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Entrada / Saída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34" name="Espaço Reservado para Conteúdo 2"/>
          <p:cNvSpPr/>
          <p:nvPr/>
        </p:nvSpPr>
        <p:spPr>
          <a:xfrm>
            <a:off x="457200" y="172728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Entrada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Ler bytes.</a:t>
            </a:r>
            <a:endParaRPr b="0" lang="pt-BR" sz="26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Saída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Escrever bytes.</a:t>
            </a: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uma linha inteira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36" name="CaixaDeTexto 2"/>
          <p:cNvSpPr/>
          <p:nvPr/>
        </p:nvSpPr>
        <p:spPr>
          <a:xfrm>
            <a:off x="584280" y="1628640"/>
            <a:ext cx="6551640" cy="82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"arquivo.txt"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"r"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onsolas"/>
                <a:ea typeface="DejaVu Sans"/>
              </a:rPr>
              <a:t>file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linha </a:t>
            </a:r>
            <a:r>
              <a:rPr b="0" lang="pt-BR" sz="24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0000"/>
                </a:solidFill>
                <a:latin typeface="Consolas"/>
                <a:ea typeface="DejaVu Sans"/>
              </a:rPr>
              <a:t>file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.readline()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ítulo 1"/>
          <p:cNvSpPr/>
          <p:nvPr/>
        </p:nvSpPr>
        <p:spPr>
          <a:xfrm>
            <a:off x="457200" y="620640"/>
            <a:ext cx="85064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o arquivo inteiro linha a linha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38" name="CaixaDeTexto 2"/>
          <p:cNvSpPr/>
          <p:nvPr/>
        </p:nvSpPr>
        <p:spPr>
          <a:xfrm>
            <a:off x="467640" y="1567800"/>
            <a:ext cx="8228880" cy="31078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800" spc="-1" strike="noStrike">
                <a:solidFill>
                  <a:srgbClr val="a31515"/>
                </a:solidFill>
                <a:latin typeface="Consolas"/>
                <a:ea typeface="DejaVu Sans"/>
              </a:rPr>
              <a:t>"arquivo.txt"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800" spc="-1" strike="noStrike">
                <a:solidFill>
                  <a:srgbClr val="a31515"/>
                </a:solidFill>
                <a:latin typeface="Consolas"/>
                <a:ea typeface="DejaVu Sans"/>
              </a:rPr>
              <a:t>"r"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8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readline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()  </a:t>
            </a:r>
            <a:r>
              <a:rPr b="0" lang="pt-BR" sz="1800" spc="-1" strike="noStrike">
                <a:solidFill>
                  <a:srgbClr val="008000"/>
                </a:solidFill>
                <a:latin typeface="Consolas"/>
                <a:ea typeface="DejaVu Sans"/>
              </a:rPr>
              <a:t># primeira linha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800" spc="-1" strike="noStrike">
                <a:solidFill>
                  <a:srgbClr val="af00db"/>
                </a:solidFill>
                <a:latin typeface="Consolas"/>
                <a:ea typeface="DejaVu Sans"/>
              </a:rPr>
              <a:t>while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	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	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8000"/>
                </a:solidFill>
                <a:latin typeface="Consolas"/>
                <a:ea typeface="DejaVu Sans"/>
              </a:rPr>
              <a:t># .strip() remove espaços em branco e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8000"/>
                </a:solidFill>
                <a:latin typeface="Consolas"/>
                <a:ea typeface="DejaVu Sans"/>
              </a:rPr>
              <a:t>        </a:t>
            </a:r>
            <a:r>
              <a:rPr b="0" lang="pt-BR" sz="1800" spc="-1" strike="noStrike">
                <a:solidFill>
                  <a:srgbClr val="008000"/>
                </a:solidFill>
                <a:latin typeface="Consolas"/>
                <a:ea typeface="DejaVu Sans"/>
              </a:rPr>
              <a:t># quebras de linha extras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strip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())  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readline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ítulo 1"/>
          <p:cNvSpPr/>
          <p:nvPr/>
        </p:nvSpPr>
        <p:spPr>
          <a:xfrm>
            <a:off x="457200" y="620640"/>
            <a:ext cx="85064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o arquivo inteiro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40" name="CaixaDeTexto 2"/>
          <p:cNvSpPr/>
          <p:nvPr/>
        </p:nvSpPr>
        <p:spPr>
          <a:xfrm>
            <a:off x="467640" y="1567800"/>
            <a:ext cx="8228880" cy="17362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800" spc="-1" strike="noStrike">
                <a:solidFill>
                  <a:srgbClr val="a31515"/>
                </a:solidFill>
                <a:latin typeface="Consolas"/>
                <a:ea typeface="DejaVu Sans"/>
              </a:rPr>
              <a:t>"arquivo.txt"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800" spc="-1" strike="noStrike">
                <a:solidFill>
                  <a:srgbClr val="a31515"/>
                </a:solidFill>
                <a:latin typeface="Consolas"/>
                <a:ea typeface="DejaVu Sans"/>
              </a:rPr>
              <a:t>"r"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8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doc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8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8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3b3b3b"/>
                </a:solidFill>
                <a:latin typeface="Consolas"/>
                <a:ea typeface="DejaVu Sans"/>
              </a:rPr>
              <a:t>print(doc)</a:t>
            </a:r>
            <a:br/>
            <a:br/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Strings do Teclado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42" name="CaixaDeTexto 2"/>
          <p:cNvSpPr/>
          <p:nvPr/>
        </p:nvSpPr>
        <p:spPr>
          <a:xfrm>
            <a:off x="467640" y="1628640"/>
            <a:ext cx="7852680" cy="39931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Ler da entrada padrão (teclado)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stdin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readline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while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	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.strip() remove espaços em branco e 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    </a:t>
            </a:r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quebras de linha extras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strip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())  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stdin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readline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Strings do Teclado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44" name="CaixaDeTexto 2"/>
          <p:cNvSpPr/>
          <p:nvPr/>
        </p:nvSpPr>
        <p:spPr>
          <a:xfrm>
            <a:off x="467640" y="1628640"/>
            <a:ext cx="7852680" cy="33832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Ler da entrada padrão (teclado)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input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('digite algo: ')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while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input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('digite algo: ')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ítulo 1"/>
          <p:cNvSpPr/>
          <p:nvPr/>
        </p:nvSpPr>
        <p:spPr>
          <a:xfrm>
            <a:off x="251640" y="332640"/>
            <a:ext cx="878436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solidFill>
                  <a:srgbClr val="424456"/>
                </a:solidFill>
                <a:latin typeface="Trebuchet MS"/>
              </a:rPr>
              <a:t>Escrita em arquivo usando write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246" name="CaixaDeTexto 2"/>
          <p:cNvSpPr/>
          <p:nvPr/>
        </p:nvSpPr>
        <p:spPr>
          <a:xfrm>
            <a:off x="366120" y="1589760"/>
            <a:ext cx="6216120" cy="8215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en-US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"saida.txt"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"w"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en-US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en-US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en-US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write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en-US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"Python</a:t>
            </a:r>
            <a:r>
              <a:rPr b="0" lang="en-US" sz="2400" spc="-1" strike="noStrike">
                <a:solidFill>
                  <a:srgbClr val="ee0000"/>
                </a:solidFill>
                <a:latin typeface="Consolas"/>
                <a:ea typeface="DejaVu Sans"/>
              </a:rPr>
              <a:t>\n</a:t>
            </a:r>
            <a:r>
              <a:rPr b="0" lang="en-US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</a:t>
            </a:r>
            <a:r>
              <a:rPr b="0" lang="en-US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solidFill>
                  <a:srgbClr val="424456"/>
                </a:solidFill>
                <a:latin typeface="Trebuchet MS"/>
              </a:rPr>
              <a:t>Modos de leitura e escrita de arquivos </a:t>
            </a:r>
            <a:endParaRPr b="0" lang="pt-BR" sz="3600" spc="-1" strike="noStrike">
              <a:latin typeface="Arial"/>
            </a:endParaRPr>
          </a:p>
        </p:txBody>
      </p:sp>
      <p:graphicFrame>
        <p:nvGraphicFramePr>
          <p:cNvPr id="248" name="Tabela 14"/>
          <p:cNvGraphicFramePr/>
          <p:nvPr/>
        </p:nvGraphicFramePr>
        <p:xfrm>
          <a:off x="457200" y="1508400"/>
          <a:ext cx="8228880" cy="4697640"/>
        </p:xfrm>
        <a:graphic>
          <a:graphicData uri="http://schemas.openxmlformats.org/drawingml/2006/table">
            <a:tbl>
              <a:tblPr/>
              <a:tblGrid>
                <a:gridCol w="738000"/>
                <a:gridCol w="7491240"/>
              </a:tblGrid>
              <a:tr h="3808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Modo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 que permite fazer?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978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o arquivo em modo somente leitura. Começa a leitura do início do arquivo e é o modo padrão da função open().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236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rb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o arquivo em modo somente leitura no formato binário, começando do início do arquivo. Geralmente usado para manipular imagens, vídeos, etc.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r+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leitura e escrita, posicionando o ponteiro no início do arquivo.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236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em modo somente escrita. O ponteiro é posicionado no início do arquivo e sobrescreve qualquer arquivo existente com o mesmo nome. Cria um novo arquivo caso ele não exista.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80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wb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em modo somente escrita no formato binário.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80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w+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escrita e leitura.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80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wb+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escrita e leitura no formato binário.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2236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adicionar </a:t>
                      </a:r>
                      <a:r>
                        <a:rPr b="1" i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(append)</a:t>
                      </a: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novas informações. O ponteiro é posicionado no final do arquivo. Cria um novo arquivo caso ele não exista.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adicionar </a:t>
                      </a:r>
                      <a:r>
                        <a:rPr b="0" i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(append)</a:t>
                      </a: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novas informações no formato binário.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80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a+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adição </a:t>
                      </a:r>
                      <a:r>
                        <a:rPr b="0" i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(append)</a:t>
                      </a: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e leitura.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98080">
                <a:tc>
                  <a:txBody>
                    <a:bodyPr lIns="48960" rIns="4896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ab+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8960" rIns="489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Abre um arquivo para adição </a:t>
                      </a:r>
                      <a:r>
                        <a:rPr b="0" i="1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(append)</a:t>
                      </a: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e leitura no formato binário.</a:t>
                      </a:r>
                      <a:endParaRPr b="0" lang="pt-BR" sz="1400" spc="-1" strike="noStrike">
                        <a:latin typeface="Arial"/>
                      </a:endParaRPr>
                    </a:p>
                  </a:txBody>
                  <a:tcPr marL="48960" marR="489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9" name="Rectangle 1"/>
          <p:cNvSpPr/>
          <p:nvPr/>
        </p:nvSpPr>
        <p:spPr>
          <a:xfrm>
            <a:off x="2798640" y="224964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ítulo 1"/>
          <p:cNvSpPr/>
          <p:nvPr/>
        </p:nvSpPr>
        <p:spPr>
          <a:xfrm>
            <a:off x="457200" y="620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Lendo Strings do Teclado e salvando em um arquivo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51" name="CaixaDeTexto 2"/>
          <p:cNvSpPr/>
          <p:nvPr/>
        </p:nvSpPr>
        <p:spPr>
          <a:xfrm>
            <a:off x="515880" y="1966320"/>
            <a:ext cx="7054200" cy="25592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400" spc="-1" strike="noStrike">
                <a:solidFill>
                  <a:srgbClr val="008000"/>
                </a:solidFill>
                <a:latin typeface="Consolas"/>
                <a:ea typeface="DejaVu Sans"/>
              </a:rPr>
              <a:t># Abrir o arquivo para escrita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"arquivo.txt"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2400" spc="-1" strike="noStrike">
                <a:solidFill>
                  <a:srgbClr val="a31515"/>
                </a:solidFill>
                <a:latin typeface="Consolas"/>
                <a:ea typeface="DejaVu Sans"/>
              </a:rPr>
              <a:t>"w"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400" spc="-1" strike="noStrike">
                <a:solidFill>
                  <a:srgbClr val="008000"/>
                </a:solidFill>
                <a:latin typeface="Consolas"/>
                <a:ea typeface="DejaVu Sans"/>
              </a:rPr>
              <a:t># Ler do teclado até o fim da entrada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for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af00db"/>
                </a:solidFill>
                <a:latin typeface="Consolas"/>
                <a:ea typeface="DejaVu Sans"/>
              </a:rPr>
              <a:t>in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400" spc="-1" strike="noStrike">
                <a:solidFill>
                  <a:srgbClr val="267f99"/>
                </a:solidFill>
                <a:latin typeface="Consolas"/>
                <a:ea typeface="DejaVu Sans"/>
              </a:rPr>
              <a:t>sys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stdin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400" spc="-1" strike="noStrike">
                <a:solidFill>
                  <a:srgbClr val="795e26"/>
                </a:solidFill>
                <a:latin typeface="Consolas"/>
                <a:ea typeface="DejaVu Sans"/>
              </a:rPr>
              <a:t>write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400" spc="-1" strike="noStrike">
                <a:solidFill>
                  <a:srgbClr val="001080"/>
                </a:solidFill>
                <a:latin typeface="Consolas"/>
                <a:ea typeface="DejaVu Sans"/>
              </a:rPr>
              <a:t>linha</a:t>
            </a:r>
            <a:r>
              <a:rPr b="0" lang="pt-BR" sz="24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ítulo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CSV - </a:t>
            </a:r>
            <a:r>
              <a:rPr b="0" lang="pt-PT" sz="4000" spc="-1" strike="noStrike">
                <a:solidFill>
                  <a:srgbClr val="424456"/>
                </a:solidFill>
                <a:latin typeface="Trebuchet MS"/>
              </a:rPr>
              <a:t>Comma-separated values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53" name="Espaço Reservado para Conteúdo 2"/>
          <p:cNvSpPr/>
          <p:nvPr/>
        </p:nvSpPr>
        <p:spPr>
          <a:xfrm>
            <a:off x="457200" y="172728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O formato CSV é bastante simples e suportado por quase todas as planilhas eletrônicas e SGDB disponíveis no mercado.</a:t>
            </a: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ítulo 1"/>
          <p:cNvSpPr/>
          <p:nvPr/>
        </p:nvSpPr>
        <p:spPr>
          <a:xfrm>
            <a:off x="86760" y="29160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CSV - </a:t>
            </a:r>
            <a:r>
              <a:rPr b="0" lang="pt-PT" sz="4000" spc="-1" strike="noStrike">
                <a:solidFill>
                  <a:srgbClr val="424456"/>
                </a:solidFill>
                <a:latin typeface="Trebuchet MS"/>
              </a:rPr>
              <a:t>Comma-separated values</a:t>
            </a:r>
            <a:endParaRPr b="0" lang="pt-BR" sz="4000" spc="-1" strike="noStrike">
              <a:latin typeface="Arial"/>
            </a:endParaRPr>
          </a:p>
        </p:txBody>
      </p:sp>
      <p:pic>
        <p:nvPicPr>
          <p:cNvPr id="255" name="Picture 2" descr=""/>
          <p:cNvPicPr/>
          <p:nvPr/>
        </p:nvPicPr>
        <p:blipFill>
          <a:blip r:embed="rId1"/>
          <a:stretch/>
        </p:blipFill>
        <p:spPr>
          <a:xfrm>
            <a:off x="107640" y="1124640"/>
            <a:ext cx="8982360" cy="3455640"/>
          </a:xfrm>
          <a:prstGeom prst="rect">
            <a:avLst/>
          </a:prstGeom>
          <a:ln w="0">
            <a:noFill/>
          </a:ln>
        </p:spPr>
      </p:pic>
      <p:sp>
        <p:nvSpPr>
          <p:cNvPr id="256" name="CaixaDeTexto 4"/>
          <p:cNvSpPr/>
          <p:nvPr/>
        </p:nvSpPr>
        <p:spPr>
          <a:xfrm>
            <a:off x="107640" y="4703040"/>
            <a:ext cx="8928360" cy="191952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Year,Make,Model,Description,Price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1997,Ford,E350,"ac, abs, moon",3000.00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1999,Chevy,"Venture ""Extended Edition""","",4900.00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1999,Chevy,"Venture ""Extended Edition, Very Large""",,5000.00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1996,Jeep,Grand Cherokee,"MUST SELL!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air, moon roof, loaded",4799.00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424456"/>
                </a:solidFill>
                <a:latin typeface="Trebuchet MS"/>
              </a:rPr>
              <a:t>TSV - Tab-separated values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58" name="Content Placeholder 2"/>
          <p:cNvSpPr/>
          <p:nvPr/>
        </p:nvSpPr>
        <p:spPr>
          <a:xfrm>
            <a:off x="457200" y="4077000"/>
            <a:ext cx="8228880" cy="19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Sepal length Sepal width Petal length Petal width Species </a:t>
            </a:r>
            <a:endParaRPr b="0" lang="pt-BR" sz="14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5.1 3.5 1.4 0.2 I. setosa </a:t>
            </a:r>
            <a:endParaRPr b="0" lang="pt-BR" sz="14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4.9 3.0 1.4 0.2 I. setosa </a:t>
            </a:r>
            <a:endParaRPr b="0" lang="pt-BR" sz="14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4.7 3.2 1.3 0.2 I. setosa </a:t>
            </a:r>
            <a:endParaRPr b="0" lang="pt-BR" sz="14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4.6 3.1 1.5 0.2 I. setosa </a:t>
            </a:r>
            <a:endParaRPr b="0" lang="pt-BR" sz="14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onsolas"/>
              </a:rPr>
              <a:t>5.0 3.6 1.4 0.2 I. setosa</a:t>
            </a:r>
            <a:endParaRPr b="0" lang="pt-BR" sz="1400" spc="-1" strike="noStrike">
              <a:latin typeface="Arial"/>
            </a:endParaRPr>
          </a:p>
        </p:txBody>
      </p:sp>
      <p:pic>
        <p:nvPicPr>
          <p:cNvPr id="259" name="Picture 3" descr=""/>
          <p:cNvPicPr/>
          <p:nvPr/>
        </p:nvPicPr>
        <p:blipFill>
          <a:blip r:embed="rId1"/>
          <a:stretch/>
        </p:blipFill>
        <p:spPr>
          <a:xfrm>
            <a:off x="457200" y="1644480"/>
            <a:ext cx="5726880" cy="220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424456"/>
                </a:solidFill>
                <a:latin typeface="Trebuchet MS"/>
              </a:rPr>
              <a:t>Planilhas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61" name="Content Placeholder 2"/>
          <p:cNvSpPr/>
          <p:nvPr/>
        </p:nvSpPr>
        <p:spPr>
          <a:xfrm>
            <a:off x="457200" y="172728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eorgia"/>
              </a:rPr>
              <a:t>Excel</a:t>
            </a:r>
            <a:endParaRPr b="0" lang="pt-BR" sz="28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Georgia"/>
              </a:rPr>
              <a:t>Google Planilha</a:t>
            </a: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b="0" lang="pt-BR" sz="28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Georgia"/>
              </a:rPr>
              <a:t>Desenvolvimento de Software Low-Code / No-Code usando Planilhas:</a:t>
            </a:r>
            <a:endParaRPr b="0" lang="pt-BR" sz="28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AppSheet do Google - </a:t>
            </a:r>
            <a:r>
              <a:rPr b="0" lang="en-US" sz="2400" spc="-1" strike="noStrike" u="sng">
                <a:solidFill>
                  <a:srgbClr val="67afbd"/>
                </a:solidFill>
                <a:uFillTx/>
                <a:latin typeface="Georgia"/>
                <a:hlinkClick r:id="rId1"/>
              </a:rPr>
              <a:t>https://www.appsheet.com/</a:t>
            </a: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  </a:t>
            </a:r>
            <a:endParaRPr b="0" lang="pt-BR" sz="24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Bubble - </a:t>
            </a:r>
            <a:r>
              <a:rPr b="0" lang="en-US" sz="2400" spc="-1" strike="noStrike" u="sng">
                <a:solidFill>
                  <a:srgbClr val="67afbd"/>
                </a:solidFill>
                <a:uFillTx/>
                <a:latin typeface="Georgia"/>
                <a:hlinkClick r:id="rId2"/>
              </a:rPr>
              <a:t>https://bubble.io/</a:t>
            </a: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 </a:t>
            </a:r>
            <a:endParaRPr b="0" lang="pt-BR" sz="24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Glide - </a:t>
            </a:r>
            <a:r>
              <a:rPr b="0" lang="en-US" sz="2400" spc="-1" strike="noStrike" u="sng">
                <a:solidFill>
                  <a:srgbClr val="67afbd"/>
                </a:solidFill>
                <a:uFillTx/>
                <a:latin typeface="Georgia"/>
                <a:hlinkClick r:id="rId3"/>
              </a:rPr>
              <a:t>https://www.glideapps.com/</a:t>
            </a:r>
            <a:r>
              <a:rPr b="0" lang="en-US" sz="2400" spc="-1" strike="noStrike">
                <a:solidFill>
                  <a:srgbClr val="000000"/>
                </a:solidFill>
                <a:latin typeface="Georgia"/>
              </a:rPr>
              <a:t> 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Manipulação de grandes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63" name="Content Placeholder 2"/>
          <p:cNvSpPr/>
          <p:nvPr/>
        </p:nvSpPr>
        <p:spPr>
          <a:xfrm>
            <a:off x="251640" y="1484640"/>
            <a:ext cx="871236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wc -l big_file.csv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head –n 3 big_file.csv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tail -n 3 big_file.csv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cat big_file.csv | less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cat big_file.csv | grep "52.2479 21.0191" 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000" spc="-1" strike="noStrike">
                <a:solidFill>
                  <a:srgbClr val="000000"/>
                </a:solidFill>
                <a:latin typeface="Consolas"/>
              </a:rPr>
              <a:t>sed "s/ /;/g" teste.txt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ls -l | tr -s ' ' | cut -d " " -f9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ls -1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awk '{ print $4 "," $5 }'  teste.txt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</a:rPr>
              <a:t>awk -F "," '{ print $4 "," $5 }'  teste.csv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onsolas"/>
              </a:rPr>
              <a:t>du -d1 | sort -n | cut -f2 | xargs du –hs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onsolas"/>
              </a:rPr>
              <a:t>hexdump arquivo.txt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onsolas"/>
              </a:rPr>
              <a:t>hexdump -C arquivo.txt</a:t>
            </a:r>
            <a:endParaRPr b="0" lang="pt-BR" sz="20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onsolas"/>
              </a:rPr>
              <a:t>hd arquivo.txt 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Checksum / Hash de grandes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65" name="Content Placeholder 2"/>
          <p:cNvSpPr/>
          <p:nvPr/>
        </p:nvSpPr>
        <p:spPr>
          <a:xfrm>
            <a:off x="457200" y="1917000"/>
            <a:ext cx="8228880" cy="413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Checksum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cksum teste*.* </a:t>
            </a:r>
            <a:endParaRPr b="0" lang="pt-BR" sz="26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MD5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md5sum teste*.* &gt; md5.txt</a:t>
            </a:r>
            <a:endParaRPr b="0" lang="pt-BR" sz="26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md5sum -c md5.txt</a:t>
            </a:r>
            <a:endParaRPr b="0" lang="pt-BR" sz="26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SHA1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sha1sum teste*.* &gt; sha1.txt</a:t>
            </a:r>
            <a:endParaRPr b="0" lang="pt-BR" sz="26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sha1sum -c sha1.txt</a:t>
            </a:r>
            <a:endParaRPr b="0" lang="pt-B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ítulo 1"/>
          <p:cNvSpPr/>
          <p:nvPr/>
        </p:nvSpPr>
        <p:spPr>
          <a:xfrm>
            <a:off x="251640" y="332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Gerando hashes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67" name="CaixaDeTexto 4"/>
          <p:cNvSpPr/>
          <p:nvPr/>
        </p:nvSpPr>
        <p:spPr>
          <a:xfrm>
            <a:off x="323640" y="1262520"/>
            <a:ext cx="7200000" cy="532404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zlib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hashlib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input_string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"Exemplo de string para hash"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Convertendo a string para bytes, 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pois os métodos de hash precisam de dados binários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input_string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encode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'utf-8'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checksum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sum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crc32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zlib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crc32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md5_hash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hashlib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md5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hexdigest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sha1_hash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hashlib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sha1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hexdigest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sha256_hash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hashlib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sha256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input_bytes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hexdigest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"String de entrada:"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input_string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"Checksum:"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checksum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"crc32:"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format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crc32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'08x'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"MD5:"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md5_hash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"SHA-1:"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sha1_hash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"SHA-256:"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sha256_hash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Armazenando vários arquivos em um só arquivo (arquivamento)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69" name="Content Placeholder 2"/>
          <p:cNvSpPr/>
          <p:nvPr/>
        </p:nvSpPr>
        <p:spPr>
          <a:xfrm>
            <a:off x="457200" y="191304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tar 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Consolas"/>
              </a:rPr>
              <a:t>tar cfv teste.tar teste*.*</a:t>
            </a:r>
            <a:endParaRPr b="0" lang="pt-BR" sz="26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c – create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f – file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v - verbose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1"/>
          <p:cNvSpPr/>
          <p:nvPr/>
        </p:nvSpPr>
        <p:spPr>
          <a:xfrm>
            <a:off x="179640" y="332640"/>
            <a:ext cx="878436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Compressão de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71" name="Content Placeholder 2"/>
          <p:cNvSpPr/>
          <p:nvPr/>
        </p:nvSpPr>
        <p:spPr>
          <a:xfrm>
            <a:off x="179640" y="1268640"/>
            <a:ext cx="878436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Sem perda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zip, rar, 7z, gzip (um só arquivo), bzip2  (um só arquivo),...</a:t>
            </a:r>
            <a:endParaRPr b="0" lang="pt-BR" sz="26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zip teste.zip teste*.*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gzip teste.txt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bzip2 teste.txt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tar c teste*.* | gzip &gt; teste.tar.gz</a:t>
            </a:r>
            <a:endParaRPr b="0" lang="pt-BR" sz="24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tar cfvz teste.tar.gz teste*.*</a:t>
            </a:r>
            <a:endParaRPr b="0" lang="pt-BR" sz="2400" spc="-1" strike="noStrike">
              <a:latin typeface="Arial"/>
            </a:endParaRPr>
          </a:p>
          <a:p>
            <a:pPr lvl="3" marL="1179360" indent="-19944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200" spc="-1" strike="noStrike">
                <a:solidFill>
                  <a:srgbClr val="53548a"/>
                </a:solidFill>
                <a:latin typeface="Consolas"/>
              </a:rPr>
              <a:t>z - gzip</a:t>
            </a:r>
            <a:endParaRPr b="0" lang="pt-BR" sz="2200" spc="-1" strike="noStrike">
              <a:latin typeface="Arial"/>
            </a:endParaRPr>
          </a:p>
          <a:p>
            <a:pPr lvl="2" marL="922320" indent="-21852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400" spc="-1" strike="noStrike">
                <a:solidFill>
                  <a:srgbClr val="53548a"/>
                </a:solidFill>
                <a:latin typeface="Consolas"/>
              </a:rPr>
              <a:t>tar cfvj teste.tar.bz teste*.* </a:t>
            </a:r>
            <a:endParaRPr b="0" lang="pt-BR" sz="2400" spc="-1" strike="noStrike">
              <a:latin typeface="Arial"/>
            </a:endParaRPr>
          </a:p>
          <a:p>
            <a:pPr lvl="3" marL="1179360" indent="-199440">
              <a:lnSpc>
                <a:spcPct val="100000"/>
              </a:lnSpc>
              <a:spcBef>
                <a:spcPts val="300"/>
              </a:spcBef>
              <a:buClr>
                <a:srgbClr val="53548a"/>
              </a:buClr>
              <a:buFont typeface="Wingdings 2" charset="2"/>
              <a:buChar char=""/>
            </a:pPr>
            <a:r>
              <a:rPr b="0" lang="pt-BR" sz="2200" spc="-1" strike="noStrike">
                <a:solidFill>
                  <a:srgbClr val="53548a"/>
                </a:solidFill>
                <a:latin typeface="Consolas"/>
              </a:rPr>
              <a:t>j – bzip2</a:t>
            </a:r>
            <a:endParaRPr b="0" lang="pt-BR" sz="22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Com perda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Georgia"/>
              </a:rPr>
              <a:t>jpg,mp3, mp4, ...</a:t>
            </a: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3"/>
          <p:cNvSpPr/>
          <p:nvPr/>
        </p:nvSpPr>
        <p:spPr>
          <a:xfrm>
            <a:off x="107640" y="188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Leitura de arquivo ZIP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179640" y="1135800"/>
            <a:ext cx="7776000" cy="396252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Caminho para o arquivo .zip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caminho_zip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a31515"/>
                </a:solidFill>
                <a:latin typeface="Consolas"/>
                <a:ea typeface="DejaVu Sans"/>
              </a:rPr>
              <a:t>'caminho/para/seu_arquivo.zip'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Nome do arquivo .txt dentro do zip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nome_arquivo_txt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a31515"/>
                </a:solidFill>
                <a:latin typeface="Consolas"/>
                <a:ea typeface="DejaVu Sans"/>
              </a:rPr>
              <a:t>'seu_arquivo.txt'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2000" spc="-1" strike="noStrike">
                <a:solidFill>
                  <a:srgbClr val="008000"/>
                </a:solidFill>
                <a:latin typeface="Consolas"/>
                <a:ea typeface="DejaVu Sans"/>
              </a:rPr>
              <a:t># Abre o arquivo .zip e lê o conteúdo do arquivo .txt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caminho_zip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2000" spc="-1" strike="noStrike">
                <a:solidFill>
                  <a:srgbClr val="a31515"/>
                </a:solidFill>
                <a:latin typeface="Consolas"/>
                <a:ea typeface="DejaVu Sans"/>
              </a:rPr>
              <a:t>'r'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zip_ref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zip_ref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nome_arquivo_txt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20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conteudo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().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decode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a31515"/>
                </a:solidFill>
                <a:latin typeface="Consolas"/>
                <a:ea typeface="DejaVu Sans"/>
              </a:rPr>
              <a:t>'utf-8'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20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2000" spc="-1" strike="noStrike">
                <a:solidFill>
                  <a:srgbClr val="001080"/>
                </a:solidFill>
                <a:latin typeface="Consolas"/>
                <a:ea typeface="DejaVu Sans"/>
              </a:rPr>
              <a:t>conteudo</a:t>
            </a:r>
            <a:r>
              <a:rPr b="0" lang="pt-BR" sz="20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3"/>
          <p:cNvSpPr/>
          <p:nvPr/>
        </p:nvSpPr>
        <p:spPr>
          <a:xfrm>
            <a:off x="107640" y="188640"/>
            <a:ext cx="8228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Leitura de arquivo ZIP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75" name="Rectangle 4"/>
          <p:cNvSpPr/>
          <p:nvPr/>
        </p:nvSpPr>
        <p:spPr>
          <a:xfrm>
            <a:off x="179640" y="1135800"/>
            <a:ext cx="8784360" cy="404532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Caminho para o arquivo .zip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caminho_zip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'caminho/para/seu_arquivo.zip'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Abre o arquivo .zip e exibe o conteúdo de todos os arquivos .txt internos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ZipFile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caminho_zip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'r'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zip_ref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Itera sobre cada arquivo dentro do zip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for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zip_ref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namelist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Verifica se o arquivo termina com .txt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if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endswith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'.txt'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zip_ref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conteudo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decode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'utf-8'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   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f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'Conteúdo de 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{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nome_arquivo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}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:'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   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conteudo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   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'-'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*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98658"/>
                </a:solidFill>
                <a:latin typeface="Consolas"/>
                <a:ea typeface="DejaVu Sans"/>
              </a:rPr>
              <a:t>40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 </a:t>
            </a:r>
            <a:r>
              <a:rPr b="0" lang="pt-BR" sz="1600" spc="-1" strike="noStrike">
                <a:solidFill>
                  <a:srgbClr val="008000"/>
                </a:solidFill>
                <a:latin typeface="Consolas"/>
                <a:ea typeface="DejaVu Sans"/>
              </a:rPr>
              <a:t># Linha separadora para cada arquivo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/>
          <p:nvPr/>
        </p:nvSpPr>
        <p:spPr>
          <a:xfrm>
            <a:off x="457200" y="620640"/>
            <a:ext cx="822888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solidFill>
                  <a:srgbClr val="424456"/>
                </a:solidFill>
                <a:latin typeface="Trebuchet MS"/>
              </a:rPr>
              <a:t>Encriptação de arquivos</a:t>
            </a:r>
            <a:endParaRPr b="0" lang="pt-BR" sz="4000" spc="-1" strike="noStrike">
              <a:latin typeface="Arial"/>
            </a:endParaRPr>
          </a:p>
        </p:txBody>
      </p:sp>
      <p:sp>
        <p:nvSpPr>
          <p:cNvPr id="277" name="Content Placeholder 2"/>
          <p:cNvSpPr/>
          <p:nvPr/>
        </p:nvSpPr>
        <p:spPr>
          <a:xfrm>
            <a:off x="457200" y="1727280"/>
            <a:ext cx="8228880" cy="43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Encriptar: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Consolas"/>
              </a:rPr>
              <a:t>gpg -c teste.txt</a:t>
            </a:r>
            <a:endParaRPr b="0" lang="pt-BR" sz="2600" spc="-1" strike="noStrike">
              <a:latin typeface="Arial"/>
            </a:endParaRPr>
          </a:p>
          <a:p>
            <a:pPr marL="365040" indent="-25488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b="0" lang="pt-BR" sz="2800" spc="-1" strike="noStrike">
                <a:solidFill>
                  <a:srgbClr val="000000"/>
                </a:solidFill>
                <a:latin typeface="Georgia"/>
              </a:rPr>
              <a:t>Decriptar:</a:t>
            </a:r>
            <a:endParaRPr b="0" lang="pt-BR" sz="2800" spc="-1" strike="noStrike">
              <a:latin typeface="Arial"/>
            </a:endParaRPr>
          </a:p>
          <a:p>
            <a:pPr lvl="1" marL="657360" indent="-24552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Georgia"/>
              <a:buChar char="▫"/>
            </a:pPr>
            <a:r>
              <a:rPr b="0" lang="pt-BR" sz="2600" spc="-1" strike="noStrike">
                <a:solidFill>
                  <a:srgbClr val="438086"/>
                </a:solidFill>
                <a:latin typeface="Consolas"/>
              </a:rPr>
              <a:t>gpg teste.txt.gpg</a:t>
            </a:r>
            <a:endParaRPr b="0" lang="pt-B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b="0" lang="pt-BR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b="0" lang="pt-BR" sz="26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pt-BR" sz="1800" spc="-1" strike="noStrike" u="sng">
                <a:solidFill>
                  <a:srgbClr val="67afbd"/>
                </a:solidFill>
                <a:uFillTx/>
                <a:latin typeface="Georgia"/>
                <a:hlinkClick r:id="rId1"/>
              </a:rPr>
              <a:t>http://www.techrepublic.com/article/how-to-easily-encryptdecrypt-a-file-in-linux-with-gpg/</a:t>
            </a:r>
            <a:r>
              <a:rPr b="0" lang="pt-BR" sz="1800" spc="-1" strike="noStrike">
                <a:solidFill>
                  <a:srgbClr val="000000"/>
                </a:solidFill>
                <a:latin typeface="Georgia"/>
              </a:rPr>
              <a:t>  </a:t>
            </a:r>
            <a:endParaRPr b="0" lang="pt-BR" sz="18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pt-BR" sz="1800" spc="-1" strike="noStrike" u="sng">
                <a:solidFill>
                  <a:srgbClr val="67afbd"/>
                </a:solidFill>
                <a:uFillTx/>
                <a:latin typeface="Georgia"/>
                <a:hlinkClick r:id="rId2"/>
              </a:rPr>
              <a:t>http://irtfweb.ifa.hawaii.edu/~lockhart/gpg/</a:t>
            </a:r>
            <a:r>
              <a:rPr b="0" lang="pt-BR" sz="1800" spc="-1" strike="noStrike">
                <a:solidFill>
                  <a:srgbClr val="000000"/>
                </a:solidFill>
                <a:latin typeface="Georgia"/>
              </a:rPr>
              <a:t> </a:t>
            </a:r>
            <a:endParaRPr b="0" lang="pt-BR" sz="18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pt-BR" sz="1800" spc="-1" strike="noStrike">
              <a:latin typeface="Arial"/>
            </a:endParaRPr>
          </a:p>
          <a:p>
            <a:pPr marL="10944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pt-BR" sz="1800" spc="-1" strike="noStrike" u="sng">
                <a:solidFill>
                  <a:srgbClr val="67afbd"/>
                </a:solidFill>
                <a:uFillTx/>
                <a:latin typeface="Georgia"/>
                <a:hlinkClick r:id="rId3"/>
              </a:rPr>
              <a:t>https://help.ubuntu.com/community/GnuPrivacyGuardHowto</a:t>
            </a:r>
            <a:r>
              <a:rPr b="0" lang="pt-BR" sz="1800" spc="-1" strike="noStrike">
                <a:solidFill>
                  <a:srgbClr val="000000"/>
                </a:solidFill>
                <a:latin typeface="Georgia"/>
              </a:rPr>
              <a:t> 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ítulo 1"/>
          <p:cNvSpPr/>
          <p:nvPr/>
        </p:nvSpPr>
        <p:spPr>
          <a:xfrm>
            <a:off x="457200" y="620640"/>
            <a:ext cx="85784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3200" spc="-1" strike="noStrike">
                <a:solidFill>
                  <a:srgbClr val="424456"/>
                </a:solidFill>
                <a:latin typeface="Trebuchet MS"/>
              </a:rPr>
              <a:t>Gerar e salvas chaves pública e privada para criptografia assimétrica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279" name="CaixaDeTexto 5"/>
          <p:cNvSpPr/>
          <p:nvPr/>
        </p:nvSpPr>
        <p:spPr>
          <a:xfrm>
            <a:off x="467640" y="1703880"/>
            <a:ext cx="8064000" cy="501984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asymmetric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rsa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rsa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generate_private_key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public_exponent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098658"/>
                </a:solidFill>
                <a:latin typeface="Consolas"/>
                <a:ea typeface="DejaVu Sans"/>
              </a:rPr>
              <a:t>65537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key_size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098658"/>
                </a:solidFill>
                <a:latin typeface="Consolas"/>
                <a:ea typeface="DejaVu Sans"/>
              </a:rPr>
              <a:t>2048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public_key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"private_key.pem"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"wb"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private_file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private_file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write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private_bytes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encoding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Encoding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0070c1"/>
                </a:solidFill>
                <a:latin typeface="Consolas"/>
                <a:ea typeface="DejaVu Sans"/>
              </a:rPr>
              <a:t>PEM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format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PrivateFormat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0070c1"/>
                </a:solidFill>
                <a:latin typeface="Consolas"/>
                <a:ea typeface="DejaVu Sans"/>
              </a:rPr>
              <a:t>PKCS8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encryption_algorithm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BestAvailableEncryption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200" spc="-1" strike="noStrike">
                <a:solidFill>
                  <a:srgbClr val="0000ff"/>
                </a:solidFill>
                <a:latin typeface="Consolas"/>
                <a:ea typeface="DejaVu Sans"/>
              </a:rPr>
              <a:t>b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"minha_senha_forte"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"public_key.pem"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"wb"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2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public_file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public_file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write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public_key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public_bytes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encoding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Encoding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0070c1"/>
                </a:solidFill>
                <a:latin typeface="Consolas"/>
                <a:ea typeface="DejaVu Sans"/>
              </a:rPr>
              <a:t>PEM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,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</a:t>
            </a:r>
            <a:r>
              <a:rPr b="0" lang="pt-BR" sz="1200" spc="-1" strike="noStrike">
                <a:solidFill>
                  <a:srgbClr val="001080"/>
                </a:solidFill>
                <a:latin typeface="Consolas"/>
                <a:ea typeface="DejaVu Sans"/>
              </a:rPr>
              <a:t>format</a:t>
            </a:r>
            <a:r>
              <a:rPr b="0" lang="pt-BR" sz="12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267f99"/>
                </a:solidFill>
                <a:latin typeface="Consolas"/>
                <a:ea typeface="DejaVu Sans"/>
              </a:rPr>
              <a:t>PublicFormat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200" spc="-1" strike="noStrike">
                <a:solidFill>
                  <a:srgbClr val="0070c1"/>
                </a:solidFill>
                <a:latin typeface="Consolas"/>
                <a:ea typeface="DejaVu Sans"/>
              </a:rPr>
              <a:t>SubjectPublicKeyInfo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2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200" spc="-1" strike="noStrike">
                <a:solidFill>
                  <a:srgbClr val="a31515"/>
                </a:solidFill>
                <a:latin typeface="Consolas"/>
                <a:ea typeface="DejaVu Sans"/>
              </a:rPr>
              <a:t>"Chaves salvas com sucesso em 'private_key.pem' e 'public_key.pem'"</a:t>
            </a:r>
            <a:r>
              <a:rPr b="0" lang="pt-BR" sz="12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ítulo 1"/>
          <p:cNvSpPr/>
          <p:nvPr/>
        </p:nvSpPr>
        <p:spPr>
          <a:xfrm>
            <a:off x="179640" y="404640"/>
            <a:ext cx="85784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3200" spc="-1" strike="noStrike">
                <a:solidFill>
                  <a:srgbClr val="424456"/>
                </a:solidFill>
                <a:latin typeface="Trebuchet MS"/>
              </a:rPr>
              <a:t>Encriptar mensagem com a chave pública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281" name="CaixaDeTexto 3"/>
          <p:cNvSpPr/>
          <p:nvPr/>
        </p:nvSpPr>
        <p:spPr>
          <a:xfrm>
            <a:off x="323640" y="1268640"/>
            <a:ext cx="8064000" cy="407628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asymmetric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backends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default_backend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"public_key.pem"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"rb"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load_pem_public_key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backend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default_backend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"Esta é a mensagem original."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encode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"utf-8"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public_key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encrypt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OAEP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mgf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MGF1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algorithm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SHA256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()), 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          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algorithm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SHA256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label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None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"mensagem_encriptada.bin"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"wb"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write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ítulo 1"/>
          <p:cNvSpPr/>
          <p:nvPr/>
        </p:nvSpPr>
        <p:spPr>
          <a:xfrm>
            <a:off x="179640" y="404640"/>
            <a:ext cx="857844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pt-BR" sz="3200" spc="-1" strike="noStrike">
                <a:solidFill>
                  <a:srgbClr val="424456"/>
                </a:solidFill>
                <a:latin typeface="Trebuchet MS"/>
              </a:rPr>
              <a:t>Decriptar mensagem com a chave privada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283" name="CaixaDeTexto 3"/>
          <p:cNvSpPr/>
          <p:nvPr/>
        </p:nvSpPr>
        <p:spPr>
          <a:xfrm>
            <a:off x="323640" y="1268640"/>
            <a:ext cx="8064000" cy="5536440"/>
          </a:xfrm>
          <a:prstGeom prst="rect">
            <a:avLst/>
          </a:prstGeom>
          <a:noFill/>
          <a:ln w="0">
            <a:solidFill>
              <a:srgbClr val="53548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asymmetric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primitives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from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cryptography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hazmat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backends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import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default_backend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with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"private_key.pem"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"rb"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 </a:t>
            </a:r>
            <a:r>
              <a:rPr b="0" lang="pt-BR" sz="1600" spc="-1" strike="noStrike">
                <a:solidFill>
                  <a:srgbClr val="af00db"/>
                </a:solidFill>
                <a:latin typeface="Consolas"/>
                <a:ea typeface="DejaVu Sans"/>
              </a:rPr>
              <a:t>as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: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serialization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load_pem_private_key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private_file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password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b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"minha_senha_forte"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backend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default_backend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open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"mensagem_encriptada.bin"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"rb"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read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decrypted_message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private_key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decrypt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encrypted_message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OAEP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mgf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padding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MGF1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algorithm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SHA256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()),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algorithm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hashes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267f99"/>
                </a:solidFill>
                <a:latin typeface="Consolas"/>
                <a:ea typeface="DejaVu Sans"/>
              </a:rPr>
              <a:t>SHA256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(),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   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label</a:t>
            </a:r>
            <a:r>
              <a:rPr b="0" lang="pt-BR" sz="1600" spc="-1" strike="noStrike">
                <a:solidFill>
                  <a:srgbClr val="000000"/>
                </a:solidFill>
                <a:latin typeface="Consolas"/>
                <a:ea typeface="DejaVu Sans"/>
              </a:rPr>
              <a:t>=</a:t>
            </a:r>
            <a:r>
              <a:rPr b="0" lang="pt-BR" sz="1600" spc="-1" strike="noStrike">
                <a:solidFill>
                  <a:srgbClr val="0000ff"/>
                </a:solidFill>
                <a:latin typeface="Consolas"/>
                <a:ea typeface="DejaVu Sans"/>
              </a:rPr>
              <a:t>None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    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)</a:t>
            </a:r>
            <a:endParaRPr b="0" lang="pt-B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br/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print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</a:t>
            </a:r>
            <a:r>
              <a:rPr b="0" lang="pt-BR" sz="1600" spc="-1" strike="noStrike">
                <a:solidFill>
                  <a:srgbClr val="a31515"/>
                </a:solidFill>
                <a:latin typeface="Consolas"/>
                <a:ea typeface="DejaVu Sans"/>
              </a:rPr>
              <a:t>"Mensagem decriptada:"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, </a:t>
            </a:r>
            <a:r>
              <a:rPr b="0" lang="pt-BR" sz="1600" spc="-1" strike="noStrike">
                <a:solidFill>
                  <a:srgbClr val="001080"/>
                </a:solidFill>
                <a:latin typeface="Consolas"/>
                <a:ea typeface="DejaVu Sans"/>
              </a:rPr>
              <a:t>decrypted_message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.</a:t>
            </a:r>
            <a:r>
              <a:rPr b="0" lang="pt-BR" sz="1600" spc="-1" strike="noStrike">
                <a:solidFill>
                  <a:srgbClr val="795e26"/>
                </a:solidFill>
                <a:latin typeface="Consolas"/>
                <a:ea typeface="DejaVu Sans"/>
              </a:rPr>
              <a:t>decode</a:t>
            </a:r>
            <a:r>
              <a:rPr b="0" lang="pt-BR" sz="1600" spc="-1" strike="noStrike">
                <a:solidFill>
                  <a:srgbClr val="3b3b3b"/>
                </a:solidFill>
                <a:latin typeface="Consolas"/>
                <a:ea typeface="DejaVu Sans"/>
              </a:rPr>
              <a:t>())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Imagem 13" descr="puzzle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285" name="Text Box 3"/>
          <p:cNvSpPr/>
          <p:nvPr/>
        </p:nvSpPr>
        <p:spPr>
          <a:xfrm>
            <a:off x="192600" y="5373360"/>
            <a:ext cx="6035040" cy="1367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pt-BR" sz="3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Regis Pires Magalhães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onsolas"/>
                <a:ea typeface="DejaVu Sans"/>
              </a:rPr>
              <a:t>regispires@lia.ufc.br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2400" spc="-1" strike="noStrike">
                <a:solidFill>
                  <a:srgbClr val="000000"/>
                </a:solidFill>
                <a:latin typeface="Consolas"/>
                <a:ea typeface="DejaVu Sans"/>
              </a:rPr>
              <a:t>@regispires </a:t>
            </a:r>
            <a:endParaRPr b="0" lang="pt-BR" sz="2400" spc="-1" strike="noStrike">
              <a:latin typeface="Arial"/>
            </a:endParaRPr>
          </a:p>
        </p:txBody>
      </p:sp>
      <p:sp>
        <p:nvSpPr>
          <p:cNvPr id="286" name="Text Box 2"/>
          <p:cNvSpPr/>
          <p:nvPr/>
        </p:nvSpPr>
        <p:spPr>
          <a:xfrm>
            <a:off x="1873080" y="71280"/>
            <a:ext cx="7198560" cy="1071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Trebuchet MS"/>
                <a:ea typeface="DejaVu Sans"/>
              </a:rPr>
              <a:t>Obrigado!</a:t>
            </a:r>
            <a:endParaRPr b="0" lang="pt-BR" sz="3600" spc="-1" strike="noStrike">
              <a:latin typeface="Arial"/>
            </a:endParaRPr>
          </a:p>
          <a:p>
            <a:pPr algn="r">
              <a:lnSpc>
                <a:spcPct val="100000"/>
              </a:lnSpc>
              <a:tabLst>
                <a:tab algn="l" pos="0"/>
                <a:tab algn="l" pos="447840"/>
                <a:tab algn="l" pos="896760"/>
                <a:tab algn="l" pos="1346040"/>
                <a:tab algn="l" pos="1795320"/>
                <a:tab algn="l" pos="2244600"/>
                <a:tab algn="l" pos="2693880"/>
                <a:tab algn="l" pos="3143160"/>
                <a:tab algn="l" pos="3592440"/>
                <a:tab algn="l" pos="4041720"/>
                <a:tab algn="l" pos="4491000"/>
                <a:tab algn="l" pos="4940280"/>
                <a:tab algn="l" pos="5389560"/>
                <a:tab algn="l" pos="5838840"/>
                <a:tab algn="l" pos="6288120"/>
                <a:tab algn="l" pos="6737400"/>
                <a:tab algn="l" pos="7186680"/>
                <a:tab algn="l" pos="7635960"/>
                <a:tab algn="l" pos="8085240"/>
                <a:tab algn="l" pos="8534520"/>
                <a:tab algn="l" pos="89838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rebuchet MS"/>
                <a:ea typeface="DejaVu Sans"/>
              </a:rPr>
              <a:t>Dúvidas, comentários, sugestões?</a:t>
            </a:r>
            <a:endParaRPr b="0" lang="pt-BR" sz="2800" spc="-1" strike="noStrike">
              <a:latin typeface="Arial"/>
            </a:endParaRPr>
          </a:p>
        </p:txBody>
      </p:sp>
      <p:pic>
        <p:nvPicPr>
          <p:cNvPr id="287" name="Picture 2" descr="http://guiadoestudante.abril.com.br/blogs/atualidades-vestibular/files/2013/06/BrasaoUFC_wikimediacommons.png"/>
          <p:cNvPicPr/>
          <p:nvPr/>
        </p:nvPicPr>
        <p:blipFill>
          <a:blip r:embed="rId2"/>
          <a:stretch/>
        </p:blipFill>
        <p:spPr>
          <a:xfrm>
            <a:off x="4135320" y="5388480"/>
            <a:ext cx="867960" cy="142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93686</TotalTime>
  <Application>LibreOffice/7.1.4.2$Windows_X86_64 LibreOffice_project/a529a4fab45b75fefc5b6226684193eb000654f6</Application>
  <AppVersion>15.0000</AppVersion>
  <Words>2158</Words>
  <Paragraphs>283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2007-08-05T21:05:55Z</dcterms:created>
  <dc:creator>regis</dc:creator>
  <dc:description/>
  <dc:language>pt-BR</dc:language>
  <cp:lastModifiedBy/>
  <cp:lastPrinted>2007-10-29T18:43:58Z</cp:lastPrinted>
  <dcterms:modified xsi:type="dcterms:W3CDTF">2025-09-16T09:52:34Z</dcterms:modified>
  <cp:revision>337</cp:revision>
  <dc:subject/>
  <dc:title>Desenvolvimento de Software para Persistência  Persistência de Arquivos: texto, binário, CSV, propriedades.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28</vt:i4>
  </property>
</Properties>
</file>